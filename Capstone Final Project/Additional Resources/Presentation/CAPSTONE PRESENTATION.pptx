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63" r:id="rId4"/>
    <p:sldId id="258" r:id="rId5"/>
    <p:sldId id="259" r:id="rId6"/>
    <p:sldId id="260" r:id="rId7"/>
    <p:sldId id="261" r:id="rId8"/>
    <p:sldId id="264"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82"/>
    <p:restoredTop sz="94712"/>
  </p:normalViewPr>
  <p:slideViewPr>
    <p:cSldViewPr snapToGrid="0">
      <p:cViewPr varScale="1">
        <p:scale>
          <a:sx n="105" d="100"/>
          <a:sy n="105" d="100"/>
        </p:scale>
        <p:origin x="10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12/7/25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12/7/25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12/7/25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12/7/25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12/7/25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jaldakkour.github.io/CIDM6395-CAPSTONE/web/index.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54721-F99B-306E-DFA6-F1ACC4107070}"/>
              </a:ext>
            </a:extLst>
          </p:cNvPr>
          <p:cNvSpPr>
            <a:spLocks noGrp="1"/>
          </p:cNvSpPr>
          <p:nvPr>
            <p:ph type="ctrTitle"/>
          </p:nvPr>
        </p:nvSpPr>
        <p:spPr>
          <a:xfrm>
            <a:off x="315685" y="228601"/>
            <a:ext cx="11702143" cy="3804064"/>
          </a:xfrm>
        </p:spPr>
        <p:txBody>
          <a:bodyPr>
            <a:normAutofit/>
          </a:bodyPr>
          <a:lstStyle/>
          <a:p>
            <a:r>
              <a:rPr lang="en-US" sz="3000" dirty="0"/>
              <a:t>Master of science</a:t>
            </a:r>
            <a:br>
              <a:rPr lang="en-US" sz="3000" dirty="0"/>
            </a:br>
            <a:r>
              <a:rPr lang="en-US" sz="3000" dirty="0"/>
              <a:t>computer information systems </a:t>
            </a:r>
            <a:br>
              <a:rPr lang="en-US" sz="3000" dirty="0"/>
            </a:br>
            <a:r>
              <a:rPr lang="en-US" sz="3000" dirty="0"/>
              <a:t>and business analytics</a:t>
            </a:r>
            <a:br>
              <a:rPr lang="en-US" sz="3000" dirty="0"/>
            </a:br>
            <a:r>
              <a:rPr lang="en-US" sz="3000" dirty="0"/>
              <a:t>capstone project:</a:t>
            </a:r>
            <a:br>
              <a:rPr lang="en-US" dirty="0"/>
            </a:br>
            <a:br>
              <a:rPr lang="en-US" dirty="0"/>
            </a:br>
            <a:r>
              <a:rPr lang="en-US" dirty="0"/>
              <a:t>Conversion Compass</a:t>
            </a:r>
            <a:br>
              <a:rPr lang="en-US" dirty="0"/>
            </a:br>
            <a:endParaRPr lang="en-US" dirty="0"/>
          </a:p>
        </p:txBody>
      </p:sp>
      <p:sp>
        <p:nvSpPr>
          <p:cNvPr id="3" name="Subtitle 2">
            <a:extLst>
              <a:ext uri="{FF2B5EF4-FFF2-40B4-BE49-F238E27FC236}">
                <a16:creationId xmlns:a16="http://schemas.microsoft.com/office/drawing/2014/main" id="{48D28104-B9EE-CEFF-11BE-6BC7FBAC11F9}"/>
              </a:ext>
            </a:extLst>
          </p:cNvPr>
          <p:cNvSpPr>
            <a:spLocks noGrp="1"/>
          </p:cNvSpPr>
          <p:nvPr>
            <p:ph type="subTitle" idx="1"/>
          </p:nvPr>
        </p:nvSpPr>
        <p:spPr/>
        <p:txBody>
          <a:bodyPr>
            <a:normAutofit lnSpcReduction="10000"/>
          </a:bodyPr>
          <a:lstStyle/>
          <a:p>
            <a:r>
              <a:rPr lang="en-US" dirty="0"/>
              <a:t>Jane Aldakkour</a:t>
            </a:r>
          </a:p>
          <a:p>
            <a:r>
              <a:rPr lang="en-US" dirty="0"/>
              <a:t>Dr. Jeffrey Babb</a:t>
            </a:r>
          </a:p>
          <a:p>
            <a:r>
              <a:rPr lang="en-US" dirty="0"/>
              <a:t>CIDM 6395</a:t>
            </a:r>
          </a:p>
        </p:txBody>
      </p:sp>
    </p:spTree>
    <p:extLst>
      <p:ext uri="{BB962C8B-B14F-4D97-AF65-F5344CB8AC3E}">
        <p14:creationId xmlns:p14="http://schemas.microsoft.com/office/powerpoint/2010/main" val="3153636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D6FE-018C-9F11-E4D9-36DB59DF012E}"/>
              </a:ext>
            </a:extLst>
          </p:cNvPr>
          <p:cNvSpPr>
            <a:spLocks noGrp="1"/>
          </p:cNvSpPr>
          <p:nvPr>
            <p:ph type="title"/>
          </p:nvPr>
        </p:nvSpPr>
        <p:spPr>
          <a:xfrm>
            <a:off x="132735" y="168279"/>
            <a:ext cx="11916697" cy="1188720"/>
          </a:xfrm>
        </p:spPr>
        <p:txBody>
          <a:bodyPr>
            <a:normAutofit/>
          </a:bodyPr>
          <a:lstStyle/>
          <a:p>
            <a:r>
              <a:rPr lang="en-US" sz="4000" dirty="0"/>
              <a:t>Conversion Compass</a:t>
            </a:r>
          </a:p>
        </p:txBody>
      </p:sp>
      <p:sp>
        <p:nvSpPr>
          <p:cNvPr id="3" name="Content Placeholder 2">
            <a:extLst>
              <a:ext uri="{FF2B5EF4-FFF2-40B4-BE49-F238E27FC236}">
                <a16:creationId xmlns:a16="http://schemas.microsoft.com/office/drawing/2014/main" id="{053906A5-94F0-FF48-42DD-CA226417658C}"/>
              </a:ext>
            </a:extLst>
          </p:cNvPr>
          <p:cNvSpPr>
            <a:spLocks noGrp="1"/>
          </p:cNvSpPr>
          <p:nvPr>
            <p:ph idx="1"/>
          </p:nvPr>
        </p:nvSpPr>
        <p:spPr>
          <a:xfrm>
            <a:off x="132735" y="1578078"/>
            <a:ext cx="11916697" cy="4660490"/>
          </a:xfrm>
        </p:spPr>
        <p:txBody>
          <a:bodyPr>
            <a:normAutofit/>
          </a:bodyPr>
          <a:lstStyle/>
          <a:p>
            <a:r>
              <a:rPr lang="en-US" sz="2400" u="sng" dirty="0"/>
              <a:t>What it is: </a:t>
            </a:r>
            <a:r>
              <a:rPr lang="en-US" sz="2400" dirty="0"/>
              <a:t>Conversion Compass is the Artifact I have created to reflect the 4 foundational topics covered in the Master of Science Computer Information Systems and Business Analytics (MSCISBA). Conversion Compass is a Capstone Project Proposal for a unified, predictive analytics platform for small business social media return on investment (ROI).</a:t>
            </a:r>
          </a:p>
          <a:p>
            <a:r>
              <a:rPr lang="en-US" sz="2400" u="sng" dirty="0"/>
              <a:t>The Problem: </a:t>
            </a:r>
            <a:r>
              <a:rPr lang="en-US" sz="2400" dirty="0"/>
              <a:t>Small businesses struggle to survive and lack the integrated tools to directly correlate social media engagement with tangible sales revenue (ROI). This creates a critical data gap. </a:t>
            </a:r>
          </a:p>
          <a:p>
            <a:endParaRPr lang="en-US" u="sng" dirty="0"/>
          </a:p>
        </p:txBody>
      </p:sp>
    </p:spTree>
    <p:extLst>
      <p:ext uri="{BB962C8B-B14F-4D97-AF65-F5344CB8AC3E}">
        <p14:creationId xmlns:p14="http://schemas.microsoft.com/office/powerpoint/2010/main" val="124023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390CC-EC46-B189-F604-CD5FA77427AA}"/>
              </a:ext>
            </a:extLst>
          </p:cNvPr>
          <p:cNvSpPr>
            <a:spLocks noGrp="1"/>
          </p:cNvSpPr>
          <p:nvPr>
            <p:ph type="title"/>
          </p:nvPr>
        </p:nvSpPr>
        <p:spPr>
          <a:xfrm>
            <a:off x="219456" y="192532"/>
            <a:ext cx="11769344" cy="1188720"/>
          </a:xfrm>
        </p:spPr>
        <p:txBody>
          <a:bodyPr>
            <a:normAutofit/>
          </a:bodyPr>
          <a:lstStyle/>
          <a:p>
            <a:r>
              <a:rPr lang="en-US" sz="4000" dirty="0"/>
              <a:t>The Solution</a:t>
            </a:r>
          </a:p>
        </p:txBody>
      </p:sp>
      <p:sp>
        <p:nvSpPr>
          <p:cNvPr id="3" name="Content Placeholder 2">
            <a:extLst>
              <a:ext uri="{FF2B5EF4-FFF2-40B4-BE49-F238E27FC236}">
                <a16:creationId xmlns:a16="http://schemas.microsoft.com/office/drawing/2014/main" id="{55B217F9-E04F-1383-534E-53B23264923B}"/>
              </a:ext>
            </a:extLst>
          </p:cNvPr>
          <p:cNvSpPr>
            <a:spLocks noGrp="1"/>
          </p:cNvSpPr>
          <p:nvPr>
            <p:ph idx="1"/>
          </p:nvPr>
        </p:nvSpPr>
        <p:spPr>
          <a:xfrm>
            <a:off x="365760" y="1666240"/>
            <a:ext cx="11623040" cy="4572000"/>
          </a:xfrm>
        </p:spPr>
        <p:txBody>
          <a:bodyPr>
            <a:normAutofit/>
          </a:bodyPr>
          <a:lstStyle/>
          <a:p>
            <a:r>
              <a:rPr lang="en-US" u="sng" dirty="0"/>
              <a:t>What it does:  </a:t>
            </a:r>
            <a:r>
              <a:rPr lang="en-US" dirty="0"/>
              <a:t>The Conversion Compass aims to solve a critical data gap for small businesses by creating an end-to-end data pipeline and a responsive analytical dashboard. Conversion Compass does this by:</a:t>
            </a:r>
          </a:p>
          <a:p>
            <a:pPr lvl="1"/>
            <a:r>
              <a:rPr lang="en-US" sz="1800" b="1" dirty="0"/>
              <a:t>Integrating Data</a:t>
            </a:r>
            <a:r>
              <a:rPr lang="en-US" sz="1800" dirty="0"/>
              <a:t>: It securely takes social media engagement metrics (like likes, shares, comments) and cross-references them with internal sales performance data.</a:t>
            </a:r>
          </a:p>
          <a:p>
            <a:pPr lvl="1"/>
            <a:r>
              <a:rPr lang="en-US" sz="1800" b="1" dirty="0"/>
              <a:t>Providing a Unified View:</a:t>
            </a:r>
            <a:r>
              <a:rPr lang="en-US" sz="1800" dirty="0"/>
              <a:t> It offers a single, cohesive view of the entire customer funnel, from their initial social media interaction to the final sales transaction.</a:t>
            </a:r>
          </a:p>
          <a:p>
            <a:pPr lvl="1"/>
            <a:r>
              <a:rPr lang="en-US" sz="1800" b="1" dirty="0"/>
              <a:t>Delivering Predictive Intelligence:</a:t>
            </a:r>
            <a:r>
              <a:rPr lang="en-US" sz="1800" dirty="0"/>
              <a:t> The core feature is a time-series predictive model that forecasts the impact of social media activity on near-term sales outcomes, providing actionable insights</a:t>
            </a:r>
          </a:p>
          <a:p>
            <a:r>
              <a:rPr lang="en-US" u="sng" dirty="0"/>
              <a:t>Why it’s relevant:  </a:t>
            </a:r>
            <a:r>
              <a:rPr lang="en-US" dirty="0"/>
              <a:t>The Conversion Compass is highly relevant because it directly addresses a critical struggle for small businesses: their high failure rate and their inability to quantify the true value of their social media marketing efforts.</a:t>
            </a:r>
            <a:endParaRPr lang="en-US" u="sng" dirty="0"/>
          </a:p>
          <a:p>
            <a:endParaRPr lang="en-US" u="sng" dirty="0"/>
          </a:p>
          <a:p>
            <a:endParaRPr lang="en-US" dirty="0"/>
          </a:p>
        </p:txBody>
      </p:sp>
    </p:spTree>
    <p:extLst>
      <p:ext uri="{BB962C8B-B14F-4D97-AF65-F5344CB8AC3E}">
        <p14:creationId xmlns:p14="http://schemas.microsoft.com/office/powerpoint/2010/main" val="2120840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FA1E0-E742-1A49-E09C-E6BEDA59AC2A}"/>
              </a:ext>
            </a:extLst>
          </p:cNvPr>
          <p:cNvSpPr>
            <a:spLocks noGrp="1"/>
          </p:cNvSpPr>
          <p:nvPr>
            <p:ph type="title"/>
          </p:nvPr>
        </p:nvSpPr>
        <p:spPr>
          <a:xfrm>
            <a:off x="132735" y="124034"/>
            <a:ext cx="11946193" cy="1188720"/>
          </a:xfrm>
        </p:spPr>
        <p:txBody>
          <a:bodyPr>
            <a:normAutofit/>
          </a:bodyPr>
          <a:lstStyle/>
          <a:p>
            <a:r>
              <a:rPr lang="en-US" sz="3600" dirty="0"/>
              <a:t>Data </a:t>
            </a:r>
            <a:r>
              <a:rPr lang="en-US" sz="4000" dirty="0"/>
              <a:t>Management</a:t>
            </a:r>
            <a:endParaRPr lang="en-US" sz="3600" dirty="0"/>
          </a:p>
        </p:txBody>
      </p:sp>
      <p:sp>
        <p:nvSpPr>
          <p:cNvPr id="3" name="Content Placeholder 2">
            <a:extLst>
              <a:ext uri="{FF2B5EF4-FFF2-40B4-BE49-F238E27FC236}">
                <a16:creationId xmlns:a16="http://schemas.microsoft.com/office/drawing/2014/main" id="{1103D5D8-573B-0125-E0A7-8A8A6A29B0F0}"/>
              </a:ext>
            </a:extLst>
          </p:cNvPr>
          <p:cNvSpPr>
            <a:spLocks noGrp="1"/>
          </p:cNvSpPr>
          <p:nvPr>
            <p:ph idx="1"/>
          </p:nvPr>
        </p:nvSpPr>
        <p:spPr>
          <a:xfrm>
            <a:off x="132735" y="1430594"/>
            <a:ext cx="11946193" cy="5303372"/>
          </a:xfrm>
        </p:spPr>
        <p:txBody>
          <a:bodyPr>
            <a:normAutofit fontScale="92500" lnSpcReduction="10000"/>
          </a:bodyPr>
          <a:lstStyle/>
          <a:p>
            <a:r>
              <a:rPr lang="en-US" sz="2800" dirty="0"/>
              <a:t>How does Conversion Compass showcase Data Management?</a:t>
            </a:r>
          </a:p>
          <a:p>
            <a:pPr marL="571500" lvl="1" indent="-342900">
              <a:buFont typeface="+mj-lt"/>
              <a:buAutoNum type="arabicPeriod"/>
            </a:pPr>
            <a:r>
              <a:rPr lang="en-US" sz="2400" b="1" dirty="0"/>
              <a:t>Full Extract,  Transform, Load (ETL) Pipeline Implementation</a:t>
            </a:r>
            <a:r>
              <a:rPr lang="en-US" sz="2400" dirty="0"/>
              <a:t>:</a:t>
            </a:r>
          </a:p>
          <a:p>
            <a:pPr marL="800100" lvl="2" indent="-342900">
              <a:buFont typeface="+mj-lt"/>
              <a:buAutoNum type="arabicPeriod"/>
            </a:pPr>
            <a:r>
              <a:rPr lang="en-US" sz="2400" b="1" dirty="0"/>
              <a:t>Extract: </a:t>
            </a:r>
            <a:r>
              <a:rPr lang="en-US" sz="2400" dirty="0"/>
              <a:t>The artifact securely pulls raw social media data (such as engagement metrics) from Facebook.</a:t>
            </a:r>
          </a:p>
          <a:p>
            <a:pPr marL="800100" lvl="2" indent="-342900">
              <a:buFont typeface="+mj-lt"/>
              <a:buAutoNum type="arabicPeriod"/>
            </a:pPr>
            <a:r>
              <a:rPr lang="en-US" sz="2400" b="1" dirty="0"/>
              <a:t>Transform: </a:t>
            </a:r>
            <a:r>
              <a:rPr lang="en-US" sz="2400" dirty="0"/>
              <a:t>Normalizing the raw data into a clean, time-series-ready schema. This is the critical step that requires the Python/Pandas proficiency I stated as an area that I wanted to improve in. </a:t>
            </a:r>
          </a:p>
          <a:p>
            <a:pPr marL="800100" lvl="2" indent="-342900">
              <a:buFont typeface="+mj-lt"/>
              <a:buAutoNum type="arabicPeriod"/>
            </a:pPr>
            <a:r>
              <a:rPr lang="en-US" sz="2400" b="1" dirty="0"/>
              <a:t>Load:</a:t>
            </a:r>
            <a:r>
              <a:rPr lang="en-US" sz="2400" dirty="0"/>
              <a:t> Placing the processed data into a persistent SQL database that is optimized for retrieval by the analytics models. </a:t>
            </a:r>
          </a:p>
          <a:p>
            <a:pPr marL="571500" lvl="1" indent="-342900">
              <a:buFont typeface="+mj-lt"/>
              <a:buAutoNum type="arabicPeriod"/>
            </a:pPr>
            <a:r>
              <a:rPr lang="en-US" sz="2400" b="1" dirty="0"/>
              <a:t>Data Structure:  </a:t>
            </a:r>
            <a:r>
              <a:rPr lang="en-US" sz="2400" dirty="0"/>
              <a:t>The use of an SQL Database allowed me to leverage my existing proficiency and understanding of structured data and database fundamentals. I was able to not only load Facebook data into a database but also create a database and manually enter data (the tea catalog data) into it as well. </a:t>
            </a:r>
          </a:p>
          <a:p>
            <a:pPr marL="571500" lvl="1" indent="-342900">
              <a:buFont typeface="+mj-lt"/>
              <a:buAutoNum type="arabicPeriod"/>
            </a:pPr>
            <a:r>
              <a:rPr lang="en-US" sz="2400" b="1" dirty="0"/>
              <a:t>Integration with Software Systems (SS): </a:t>
            </a:r>
            <a:r>
              <a:rPr lang="en-US" sz="2400" dirty="0"/>
              <a:t>The structured data is what the Software Systems' API calls upon to feed the dashboard and the predictive model.</a:t>
            </a:r>
          </a:p>
          <a:p>
            <a:pPr lvl="1"/>
            <a:endParaRPr lang="en-US" dirty="0"/>
          </a:p>
        </p:txBody>
      </p:sp>
    </p:spTree>
    <p:extLst>
      <p:ext uri="{BB962C8B-B14F-4D97-AF65-F5344CB8AC3E}">
        <p14:creationId xmlns:p14="http://schemas.microsoft.com/office/powerpoint/2010/main" val="36036600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B0188-5E36-7FF8-8128-DA767180FFDC}"/>
              </a:ext>
            </a:extLst>
          </p:cNvPr>
          <p:cNvSpPr>
            <a:spLocks noGrp="1"/>
          </p:cNvSpPr>
          <p:nvPr>
            <p:ph type="title"/>
          </p:nvPr>
        </p:nvSpPr>
        <p:spPr>
          <a:xfrm>
            <a:off x="169254" y="157868"/>
            <a:ext cx="11897240" cy="1188720"/>
          </a:xfrm>
        </p:spPr>
        <p:txBody>
          <a:bodyPr/>
          <a:lstStyle/>
          <a:p>
            <a:r>
              <a:rPr lang="en-US" sz="4000" dirty="0"/>
              <a:t>Software</a:t>
            </a:r>
            <a:r>
              <a:rPr lang="en-US" dirty="0"/>
              <a:t> </a:t>
            </a:r>
            <a:r>
              <a:rPr lang="en-US" sz="4000" dirty="0"/>
              <a:t>Development</a:t>
            </a:r>
            <a:endParaRPr lang="en-US" dirty="0"/>
          </a:p>
        </p:txBody>
      </p:sp>
      <p:sp>
        <p:nvSpPr>
          <p:cNvPr id="3" name="Content Placeholder 2">
            <a:extLst>
              <a:ext uri="{FF2B5EF4-FFF2-40B4-BE49-F238E27FC236}">
                <a16:creationId xmlns:a16="http://schemas.microsoft.com/office/drawing/2014/main" id="{D9668986-6FFD-9C33-1FEF-F3394EAF1791}"/>
              </a:ext>
            </a:extLst>
          </p:cNvPr>
          <p:cNvSpPr>
            <a:spLocks noGrp="1"/>
          </p:cNvSpPr>
          <p:nvPr>
            <p:ph idx="1"/>
          </p:nvPr>
        </p:nvSpPr>
        <p:spPr>
          <a:xfrm>
            <a:off x="169254" y="1562280"/>
            <a:ext cx="12022746" cy="5137852"/>
          </a:xfrm>
        </p:spPr>
        <p:txBody>
          <a:bodyPr>
            <a:normAutofit fontScale="92500" lnSpcReduction="10000"/>
          </a:bodyPr>
          <a:lstStyle/>
          <a:p>
            <a:r>
              <a:rPr lang="en-US" sz="2000" b="1" dirty="0"/>
              <a:t>1. User Interface (UI) Development:</a:t>
            </a:r>
          </a:p>
          <a:p>
            <a:pPr lvl="1"/>
            <a:r>
              <a:rPr lang="en-US" sz="1800" dirty="0"/>
              <a:t>Developed skills in HTML/CSS coding were leveraged to develop the centralized dashboard</a:t>
            </a:r>
          </a:p>
          <a:p>
            <a:pPr lvl="1"/>
            <a:r>
              <a:rPr lang="en-US" sz="1800" dirty="0"/>
              <a:t>The structured nature of HTML/CSS provided immediate visual feedback, which helped build confidence for user-interface/user-experience implementation.</a:t>
            </a:r>
          </a:p>
          <a:p>
            <a:r>
              <a:rPr lang="en-US" sz="2000" b="1" dirty="0"/>
              <a:t>2. API/Backend Implementation (Addressing Core Challenge):</a:t>
            </a:r>
          </a:p>
          <a:p>
            <a:pPr lvl="1"/>
            <a:r>
              <a:rPr lang="en-US" sz="1800" dirty="0"/>
              <a:t>The project requires developing the functional API and backend logic using Python.</a:t>
            </a:r>
          </a:p>
          <a:p>
            <a:pPr lvl="1"/>
            <a:r>
              <a:rPr lang="en-US" sz="1800" dirty="0"/>
              <a:t>Successfully building this logic directly addresses the core challenge faced in the program regarding Python programming and allowed me to continue to develop this knowledge and skillset.</a:t>
            </a:r>
          </a:p>
          <a:p>
            <a:r>
              <a:rPr lang="en-US" sz="2000" b="1" dirty="0"/>
              <a:t>3. Integration with Other Systems:</a:t>
            </a:r>
          </a:p>
          <a:p>
            <a:pPr lvl="1"/>
            <a:r>
              <a:rPr lang="en-US" sz="1800" b="1" dirty="0"/>
              <a:t>Data Management (DM):</a:t>
            </a:r>
            <a:r>
              <a:rPr lang="en-US" sz="1800" dirty="0"/>
              <a:t> The software utilizes an API to communicate with the Database Management System (DBMS), sending SQL queries to pull the necessary cleaned data.</a:t>
            </a:r>
          </a:p>
          <a:p>
            <a:pPr lvl="1"/>
            <a:r>
              <a:rPr lang="en-US" sz="1800" b="1" dirty="0"/>
              <a:t>Business Analytics (BA):</a:t>
            </a:r>
            <a:r>
              <a:rPr lang="en-US" sz="1800" dirty="0"/>
              <a:t> The SS component provides the framework to execute the analytical models and display the dynamic data visualizations (trend analysis) from the predictive model.</a:t>
            </a:r>
          </a:p>
          <a:p>
            <a:pPr lvl="1"/>
            <a:r>
              <a:rPr lang="en-US" sz="1800" b="1" dirty="0"/>
              <a:t>Networking &amp; Cybersecurity (NC):</a:t>
            </a:r>
            <a:r>
              <a:rPr lang="en-US" sz="1800" dirty="0"/>
              <a:t> The software is developed using Security by Design principles, accounting for security measures and network communication. This was performed by creating a separate folder on my device that was not moved to </a:t>
            </a:r>
            <a:r>
              <a:rPr lang="en-US" sz="1800" dirty="0" err="1"/>
              <a:t>Github</a:t>
            </a:r>
            <a:r>
              <a:rPr lang="en-US" sz="1800" dirty="0"/>
              <a:t>, which contained the passwords and access code needed to access sensitive information. </a:t>
            </a:r>
          </a:p>
          <a:p>
            <a:endParaRPr lang="en-US" dirty="0"/>
          </a:p>
        </p:txBody>
      </p:sp>
    </p:spTree>
    <p:extLst>
      <p:ext uri="{BB962C8B-B14F-4D97-AF65-F5344CB8AC3E}">
        <p14:creationId xmlns:p14="http://schemas.microsoft.com/office/powerpoint/2010/main" val="942927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B0FE8-2CE6-4138-998D-FAE56A9861BA}"/>
              </a:ext>
            </a:extLst>
          </p:cNvPr>
          <p:cNvSpPr>
            <a:spLocks noGrp="1"/>
          </p:cNvSpPr>
          <p:nvPr>
            <p:ph type="title"/>
          </p:nvPr>
        </p:nvSpPr>
        <p:spPr>
          <a:xfrm>
            <a:off x="158496" y="151892"/>
            <a:ext cx="11870944" cy="1188720"/>
          </a:xfrm>
        </p:spPr>
        <p:txBody>
          <a:bodyPr>
            <a:normAutofit/>
          </a:bodyPr>
          <a:lstStyle/>
          <a:p>
            <a:r>
              <a:rPr lang="en-US" sz="4000" dirty="0"/>
              <a:t>Data Analytics</a:t>
            </a:r>
          </a:p>
        </p:txBody>
      </p:sp>
      <p:sp>
        <p:nvSpPr>
          <p:cNvPr id="3" name="Content Placeholder 2">
            <a:extLst>
              <a:ext uri="{FF2B5EF4-FFF2-40B4-BE49-F238E27FC236}">
                <a16:creationId xmlns:a16="http://schemas.microsoft.com/office/drawing/2014/main" id="{E9024D97-351F-FBD0-3AEB-822977549F8B}"/>
              </a:ext>
            </a:extLst>
          </p:cNvPr>
          <p:cNvSpPr>
            <a:spLocks noGrp="1"/>
          </p:cNvSpPr>
          <p:nvPr>
            <p:ph idx="1"/>
          </p:nvPr>
        </p:nvSpPr>
        <p:spPr>
          <a:xfrm>
            <a:off x="158496" y="1564640"/>
            <a:ext cx="11870944" cy="5141468"/>
          </a:xfrm>
        </p:spPr>
        <p:txBody>
          <a:bodyPr>
            <a:normAutofit fontScale="92500" lnSpcReduction="20000"/>
          </a:bodyPr>
          <a:lstStyle/>
          <a:p>
            <a:r>
              <a:rPr lang="en-US" sz="2200" b="1" dirty="0"/>
              <a:t>1.Core Value Proposition:</a:t>
            </a:r>
          </a:p>
          <a:p>
            <a:pPr lvl="1"/>
            <a:r>
              <a:rPr lang="en-US" sz="1900" dirty="0"/>
              <a:t>The primary feature is the </a:t>
            </a:r>
            <a:r>
              <a:rPr lang="en-US" sz="1900" b="1" dirty="0"/>
              <a:t>time-series predictive model</a:t>
            </a:r>
            <a:r>
              <a:rPr lang="en-US" sz="1900" dirty="0"/>
              <a:t>.</a:t>
            </a:r>
          </a:p>
          <a:p>
            <a:pPr lvl="1"/>
            <a:r>
              <a:rPr lang="en-US" sz="1900" dirty="0"/>
              <a:t>This model forecasts the impact of social media activity on </a:t>
            </a:r>
            <a:r>
              <a:rPr lang="en-US" sz="1900" b="1" dirty="0"/>
              <a:t>near-term sales outcomes</a:t>
            </a:r>
            <a:r>
              <a:rPr lang="en-US" sz="1900" dirty="0"/>
              <a:t>, directly addressing the ROI data gap.</a:t>
            </a:r>
          </a:p>
          <a:p>
            <a:r>
              <a:rPr lang="en-US" sz="2200" b="1" dirty="0"/>
              <a:t>2. Analytical Implementation:</a:t>
            </a:r>
          </a:p>
          <a:p>
            <a:pPr lvl="1"/>
            <a:r>
              <a:rPr lang="en-US" sz="1900" dirty="0"/>
              <a:t>The system performs dynamic data visualizations (trend analysis) to give the business owner a unified view of the customer funnel from interaction to transaction.</a:t>
            </a:r>
          </a:p>
          <a:p>
            <a:pPr lvl="1"/>
            <a:r>
              <a:rPr lang="en-US" sz="1900" dirty="0"/>
              <a:t>BA methodology requires cross-referencing external social media engagement metrics with internal sales data to enable the calculation of true Return on Investment (ROI).</a:t>
            </a:r>
          </a:p>
          <a:p>
            <a:r>
              <a:rPr lang="en-US" sz="2200" b="1" dirty="0"/>
              <a:t>3. Integration with Other Systems:</a:t>
            </a:r>
          </a:p>
          <a:p>
            <a:pPr lvl="1"/>
            <a:r>
              <a:rPr lang="en-US" sz="1900" b="1" dirty="0"/>
              <a:t>Data Management (DM):</a:t>
            </a:r>
            <a:r>
              <a:rPr lang="en-US" sz="1900" dirty="0"/>
              <a:t> BA relies on the DM module to receive </a:t>
            </a:r>
            <a:r>
              <a:rPr lang="en-US" sz="1900" b="1" dirty="0"/>
              <a:t>clean, normalized, time-series-ready data</a:t>
            </a:r>
            <a:r>
              <a:rPr lang="en-US" sz="1900" dirty="0"/>
              <a:t> from the ETL pipeline, ensuring data quality for accurate modeling.</a:t>
            </a:r>
          </a:p>
          <a:p>
            <a:pPr lvl="1"/>
            <a:r>
              <a:rPr lang="en-US" sz="1900" b="1" dirty="0"/>
              <a:t>Software Development (SD):</a:t>
            </a:r>
            <a:r>
              <a:rPr lang="en-US" sz="1900" dirty="0"/>
              <a:t> The SD component provides the framework to execute the analytical models and display the results on the centralized dashboard.</a:t>
            </a:r>
          </a:p>
          <a:p>
            <a:pPr lvl="1"/>
            <a:r>
              <a:rPr lang="en-US" sz="1900" b="1" dirty="0"/>
              <a:t>Networking &amp; Cybersecurity (NC):</a:t>
            </a:r>
            <a:r>
              <a:rPr lang="en-US" sz="1900" dirty="0"/>
              <a:t> The models must run within a secure framework to ensure the confidentiality and integrity of the sensitive sales data being analyzed.</a:t>
            </a:r>
          </a:p>
          <a:p>
            <a:endParaRPr lang="en-US" dirty="0"/>
          </a:p>
        </p:txBody>
      </p:sp>
    </p:spTree>
    <p:extLst>
      <p:ext uri="{BB962C8B-B14F-4D97-AF65-F5344CB8AC3E}">
        <p14:creationId xmlns:p14="http://schemas.microsoft.com/office/powerpoint/2010/main" val="3139029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79911-B16A-BCEA-63E3-E9E1C1478E18}"/>
              </a:ext>
            </a:extLst>
          </p:cNvPr>
          <p:cNvSpPr>
            <a:spLocks noGrp="1"/>
          </p:cNvSpPr>
          <p:nvPr>
            <p:ph type="title"/>
          </p:nvPr>
        </p:nvSpPr>
        <p:spPr>
          <a:xfrm>
            <a:off x="121920" y="182880"/>
            <a:ext cx="11907520" cy="1188720"/>
          </a:xfrm>
        </p:spPr>
        <p:txBody>
          <a:bodyPr>
            <a:normAutofit/>
          </a:bodyPr>
          <a:lstStyle/>
          <a:p>
            <a:r>
              <a:rPr lang="en-US" sz="4000" dirty="0"/>
              <a:t>Bonus: Cybersecurity and Networking</a:t>
            </a:r>
          </a:p>
        </p:txBody>
      </p:sp>
      <p:sp>
        <p:nvSpPr>
          <p:cNvPr id="3" name="Content Placeholder 2">
            <a:extLst>
              <a:ext uri="{FF2B5EF4-FFF2-40B4-BE49-F238E27FC236}">
                <a16:creationId xmlns:a16="http://schemas.microsoft.com/office/drawing/2014/main" id="{5465B3F1-3E15-D2F1-4F61-886595E51CAB}"/>
              </a:ext>
            </a:extLst>
          </p:cNvPr>
          <p:cNvSpPr>
            <a:spLocks noGrp="1"/>
          </p:cNvSpPr>
          <p:nvPr>
            <p:ph idx="1"/>
          </p:nvPr>
        </p:nvSpPr>
        <p:spPr>
          <a:xfrm>
            <a:off x="121920" y="1642364"/>
            <a:ext cx="11907520" cy="5032756"/>
          </a:xfrm>
        </p:spPr>
        <p:txBody>
          <a:bodyPr>
            <a:normAutofit/>
          </a:bodyPr>
          <a:lstStyle/>
          <a:p>
            <a:r>
              <a:rPr lang="en-US" b="1" dirty="0"/>
              <a:t>1. Security by Design Implementation:</a:t>
            </a:r>
          </a:p>
          <a:p>
            <a:pPr lvl="1"/>
            <a:r>
              <a:rPr lang="en-US" b="1" dirty="0"/>
              <a:t>Application Access:</a:t>
            </a:r>
            <a:r>
              <a:rPr lang="en-US" dirty="0"/>
              <a:t> The system could ensure security by utilizing managed authentication (e.g., password protections) to handle secure user sign-in and session management.</a:t>
            </a:r>
          </a:p>
          <a:p>
            <a:pPr lvl="1"/>
            <a:r>
              <a:rPr lang="en-US" b="1" dirty="0"/>
              <a:t>Secure API/Ingress:</a:t>
            </a:r>
            <a:r>
              <a:rPr lang="en-US" dirty="0"/>
              <a:t> Security practices, like those used by Facebook's API (e.g., short- and long-lived access tokens), are utilized for social media connections and managing secrets via secure environment variables.</a:t>
            </a:r>
          </a:p>
          <a:p>
            <a:r>
              <a:rPr lang="en-US" b="1" dirty="0"/>
              <a:t>2. Data in Transit Protection:</a:t>
            </a:r>
          </a:p>
          <a:p>
            <a:pPr lvl="1"/>
            <a:r>
              <a:rPr lang="en-US" b="1" dirty="0"/>
              <a:t>Confidentiality and Integrity:</a:t>
            </a:r>
            <a:r>
              <a:rPr lang="en-US" dirty="0"/>
              <a:t> The project enforces Transport Layer Security (TLS/HTTPS) for all communication between the UI, API, and ETL endpoints. This helps protect confidentiality by preventing packet sniffing from occurring. </a:t>
            </a:r>
          </a:p>
          <a:p>
            <a:pPr lvl="1"/>
            <a:r>
              <a:rPr lang="en-US" dirty="0"/>
              <a:t>This ensures that the sensitive sales data and social media metrics maintain confidentiality and integrity while moving across the network.</a:t>
            </a:r>
          </a:p>
          <a:p>
            <a:r>
              <a:rPr lang="en-US" b="1" dirty="0"/>
              <a:t>3. Integration with Other Systems:</a:t>
            </a:r>
          </a:p>
          <a:p>
            <a:pPr lvl="1"/>
            <a:r>
              <a:rPr lang="en-US" b="1" dirty="0"/>
              <a:t>Data Management (DM):</a:t>
            </a:r>
            <a:r>
              <a:rPr lang="en-US" dirty="0"/>
              <a:t> CN is vital for DM as it helps keep data secure, assisting in maintaining the availability and integrity of the data and databases used for analytics.</a:t>
            </a:r>
          </a:p>
          <a:p>
            <a:pPr lvl="1"/>
            <a:r>
              <a:rPr lang="en-US" b="1" dirty="0"/>
              <a:t>Software Development (SD):</a:t>
            </a:r>
            <a:r>
              <a:rPr lang="en-US" dirty="0"/>
              <a:t> The SD is built using Security by Design principles, ensuring that security measures are accounted for during the application development process.</a:t>
            </a:r>
          </a:p>
          <a:p>
            <a:endParaRPr lang="en-US" dirty="0"/>
          </a:p>
        </p:txBody>
      </p:sp>
    </p:spTree>
    <p:extLst>
      <p:ext uri="{BB962C8B-B14F-4D97-AF65-F5344CB8AC3E}">
        <p14:creationId xmlns:p14="http://schemas.microsoft.com/office/powerpoint/2010/main" val="334090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D7278-144A-965C-3523-9235277884B6}"/>
              </a:ext>
            </a:extLst>
          </p:cNvPr>
          <p:cNvSpPr>
            <a:spLocks noGrp="1"/>
          </p:cNvSpPr>
          <p:nvPr>
            <p:ph type="title"/>
          </p:nvPr>
        </p:nvSpPr>
        <p:spPr>
          <a:xfrm>
            <a:off x="243840" y="212852"/>
            <a:ext cx="11704320" cy="1188720"/>
          </a:xfrm>
        </p:spPr>
        <p:txBody>
          <a:bodyPr>
            <a:normAutofit fontScale="90000"/>
          </a:bodyPr>
          <a:lstStyle/>
          <a:p>
            <a:r>
              <a:rPr lang="en-US" sz="3200" dirty="0"/>
              <a:t>Effectiveness Forecast and Future Improvements</a:t>
            </a:r>
          </a:p>
        </p:txBody>
      </p:sp>
      <p:sp>
        <p:nvSpPr>
          <p:cNvPr id="3" name="Content Placeholder 2">
            <a:extLst>
              <a:ext uri="{FF2B5EF4-FFF2-40B4-BE49-F238E27FC236}">
                <a16:creationId xmlns:a16="http://schemas.microsoft.com/office/drawing/2014/main" id="{92293A7D-49A1-F8F8-22D4-E4E2E1A5E798}"/>
              </a:ext>
            </a:extLst>
          </p:cNvPr>
          <p:cNvSpPr>
            <a:spLocks noGrp="1"/>
          </p:cNvSpPr>
          <p:nvPr>
            <p:ph idx="1"/>
          </p:nvPr>
        </p:nvSpPr>
        <p:spPr>
          <a:xfrm>
            <a:off x="243840" y="1605280"/>
            <a:ext cx="11704320" cy="5039868"/>
          </a:xfrm>
        </p:spPr>
        <p:txBody>
          <a:bodyPr>
            <a:normAutofit fontScale="77500" lnSpcReduction="20000"/>
          </a:bodyPr>
          <a:lstStyle/>
          <a:p>
            <a:r>
              <a:rPr lang="en-US" sz="2600" b="1" dirty="0"/>
              <a:t>1. Business Effectiveness Forecast (ROI): </a:t>
            </a:r>
            <a:r>
              <a:rPr lang="en-US" sz="2200" dirty="0"/>
              <a:t>The artifact's primary impact moves small businesses from strategic guesswork to data-driven decision making.</a:t>
            </a:r>
          </a:p>
          <a:p>
            <a:pPr lvl="1"/>
            <a:r>
              <a:rPr lang="en-US" sz="2200" b="1" dirty="0"/>
              <a:t>Quantifiable ROI:</a:t>
            </a:r>
            <a:r>
              <a:rPr lang="en-US" sz="2200" dirty="0"/>
              <a:t> The system provides the ability to finally calculate true Return on Investment (ROI) for social media, directly addressing the critical data gap. One way this can be further improved upon is by taking a businesses actual advertising expenses and analyzing how cost effective the services being paid for are for the business. </a:t>
            </a:r>
          </a:p>
          <a:p>
            <a:pPr lvl="1"/>
            <a:r>
              <a:rPr lang="en-US" sz="2200" b="1" dirty="0"/>
              <a:t>Actionable Intelligence:</a:t>
            </a:r>
            <a:r>
              <a:rPr lang="en-US" sz="2200" dirty="0"/>
              <a:t> Provides predictive analytics to inform strategic decisions, such as which inventory (tea flavors) will sell best or which social media posts are most effective.</a:t>
            </a:r>
          </a:p>
          <a:p>
            <a:pPr lvl="1"/>
            <a:r>
              <a:rPr lang="en-US" sz="2200" b="1" dirty="0"/>
              <a:t>Business Longevity:</a:t>
            </a:r>
            <a:r>
              <a:rPr lang="en-US" sz="2200" dirty="0"/>
              <a:t> By enabling optimized marketing spending and proactive inventory decisions, the tool directly contributes to business longevity and success.</a:t>
            </a:r>
            <a:br>
              <a:rPr lang="en-US" sz="2200" dirty="0"/>
            </a:br>
            <a:endParaRPr lang="en-US" sz="2200" dirty="0"/>
          </a:p>
          <a:p>
            <a:r>
              <a:rPr lang="en-US" sz="2600" b="1" dirty="0"/>
              <a:t>2. Future Evolution and Synthesis (The Next Frontier): </a:t>
            </a:r>
            <a:r>
              <a:rPr lang="en-US" sz="2200" dirty="0"/>
              <a:t>A fully realized Conversion Compass demonstrates an advanced, iterative synthesis of all four core areas:</a:t>
            </a:r>
          </a:p>
          <a:p>
            <a:pPr lvl="1"/>
            <a:r>
              <a:rPr lang="en-US" sz="2200" b="1" dirty="0"/>
              <a:t>BA-Informed CN:</a:t>
            </a:r>
            <a:r>
              <a:rPr lang="en-US" sz="2200" dirty="0"/>
              <a:t> The artifact would evolve into a data-driven security dashboard. It would use Business Analytics (BA) to proactively inform Cybersecurity and Networking (CN) policy by incorporating password and access management practices. </a:t>
            </a:r>
          </a:p>
          <a:p>
            <a:pPr lvl="1"/>
            <a:r>
              <a:rPr lang="en-US" sz="2200" b="1" dirty="0"/>
              <a:t>Continuous Improvement:</a:t>
            </a:r>
            <a:r>
              <a:rPr lang="en-US" sz="2200" dirty="0"/>
              <a:t> This future vision proves that the foundational knowledge areas are not just individual topics but are intrinsically linked, forming a unified, iterative process.</a:t>
            </a:r>
          </a:p>
          <a:p>
            <a:pPr lvl="2"/>
            <a:r>
              <a:rPr lang="en-US" sz="2200" dirty="0"/>
              <a:t>Improvements through incorporating advertising expenses into quantifiable sales data to calculate a ROI of the advertising expense. </a:t>
            </a:r>
          </a:p>
          <a:p>
            <a:endParaRPr lang="en-US" dirty="0"/>
          </a:p>
        </p:txBody>
      </p:sp>
    </p:spTree>
    <p:extLst>
      <p:ext uri="{BB962C8B-B14F-4D97-AF65-F5344CB8AC3E}">
        <p14:creationId xmlns:p14="http://schemas.microsoft.com/office/powerpoint/2010/main" val="2315147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41BB-D572-4B06-4364-F124CE7ADA3E}"/>
              </a:ext>
            </a:extLst>
          </p:cNvPr>
          <p:cNvSpPr>
            <a:spLocks noGrp="1"/>
          </p:cNvSpPr>
          <p:nvPr>
            <p:ph type="title"/>
          </p:nvPr>
        </p:nvSpPr>
        <p:spPr>
          <a:xfrm>
            <a:off x="182880" y="203200"/>
            <a:ext cx="11866880" cy="1950212"/>
          </a:xfrm>
        </p:spPr>
        <p:txBody>
          <a:bodyPr>
            <a:normAutofit/>
          </a:bodyPr>
          <a:lstStyle/>
          <a:p>
            <a:r>
              <a:rPr lang="en-US" sz="4800" dirty="0"/>
              <a:t>Conversion Compass dashboard:</a:t>
            </a:r>
          </a:p>
        </p:txBody>
      </p:sp>
      <p:sp>
        <p:nvSpPr>
          <p:cNvPr id="3" name="Content Placeholder 2">
            <a:extLst>
              <a:ext uri="{FF2B5EF4-FFF2-40B4-BE49-F238E27FC236}">
                <a16:creationId xmlns:a16="http://schemas.microsoft.com/office/drawing/2014/main" id="{856E85AB-18D7-93F0-C4F5-B0CA74BA2CDA}"/>
              </a:ext>
            </a:extLst>
          </p:cNvPr>
          <p:cNvSpPr>
            <a:spLocks noGrp="1"/>
          </p:cNvSpPr>
          <p:nvPr>
            <p:ph idx="1"/>
          </p:nvPr>
        </p:nvSpPr>
        <p:spPr>
          <a:xfrm>
            <a:off x="873760" y="2638044"/>
            <a:ext cx="10586720" cy="3101983"/>
          </a:xfrm>
        </p:spPr>
        <p:txBody>
          <a:bodyPr>
            <a:normAutofit/>
          </a:bodyPr>
          <a:lstStyle/>
          <a:p>
            <a:r>
              <a:rPr lang="en-US" sz="2800" dirty="0">
                <a:hlinkClick r:id="rId2"/>
              </a:rPr>
              <a:t>https://jaldakkour.github.io/CIDM6395-CAPSTONE/web/index.html</a:t>
            </a:r>
            <a:r>
              <a:rPr lang="en-US" sz="2800" dirty="0"/>
              <a:t> </a:t>
            </a:r>
          </a:p>
        </p:txBody>
      </p:sp>
    </p:spTree>
    <p:extLst>
      <p:ext uri="{BB962C8B-B14F-4D97-AF65-F5344CB8AC3E}">
        <p14:creationId xmlns:p14="http://schemas.microsoft.com/office/powerpoint/2010/main" val="1325741562"/>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Parcel</Template>
  <TotalTime>563</TotalTime>
  <Words>1366</Words>
  <Application>Microsoft Macintosh PowerPoint</Application>
  <PresentationFormat>Widescreen</PresentationFormat>
  <Paragraphs>64</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Master of science computer information systems  and business analytics capstone project:  Conversion Compass </vt:lpstr>
      <vt:lpstr>Conversion Compass</vt:lpstr>
      <vt:lpstr>The Solution</vt:lpstr>
      <vt:lpstr>Data Management</vt:lpstr>
      <vt:lpstr>Software Development</vt:lpstr>
      <vt:lpstr>Data Analytics</vt:lpstr>
      <vt:lpstr>Bonus: Cybersecurity and Networking</vt:lpstr>
      <vt:lpstr>Effectiveness Forecast and Future Improvements</vt:lpstr>
      <vt:lpstr>Conversion Compass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Jane Aldakkour</dc:creator>
  <cp:lastModifiedBy>Jane Aldakkour</cp:lastModifiedBy>
  <cp:revision>3</cp:revision>
  <dcterms:created xsi:type="dcterms:W3CDTF">2025-12-07T17:57:09Z</dcterms:created>
  <dcterms:modified xsi:type="dcterms:W3CDTF">2025-12-08T06:54:25Z</dcterms:modified>
</cp:coreProperties>
</file>